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5" r:id="rId19"/>
    <p:sldId id="277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E775-F1C2-EC09-35A8-DD3941C33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A3BC5-8B2D-790D-5649-054758F38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6DD-D329-7219-57A1-9F8C4DD2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2ADD6-FECA-2332-6C3F-C80A5100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39694-2882-A85F-CB71-BA680A49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280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E45A-0068-0D47-96C2-56065DDA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FA34-37CB-5AF2-E490-9B22F8A6C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E0BB6-1B97-89A5-ABD3-B5EC4F70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E5E7-35C6-1BEB-C7FC-CCE3C19F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DE263-FCA4-C79B-EFCF-2E700065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944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8699-F8C4-F37B-62CD-771C0268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08FE-FCFB-459D-2DDD-0ECC882DA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CA3D-59C0-0A4E-CD9B-C64686C7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C825-34E1-5EE8-7694-0C4D85716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0BF46-332C-A6AD-6D57-FE95934A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004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4A12-B578-9EC5-7CBC-D987C6253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D5BA5-D77E-F96C-DACC-3E78EA2BB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521AE-295C-786F-8196-3EE662D16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F4228-C08C-7026-BE3B-9148F1F6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43AEB-7D99-35DB-4DD2-0B6FA346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45732-F406-0C09-51CF-7135BACE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841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19F7-F7CD-DE0A-27E6-D61892D9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9CD4E-0A63-742D-C452-7C9D3BB3C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E416D-958F-45C6-CC13-00FF2D4C9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D166D-C47F-BD4B-381F-A9F0A99D8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FB0A8-25F5-FD77-D2DA-B47C11DD0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9BF18-C7D5-7607-74D5-79F63882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72A12-17BF-C68B-91AA-15208C49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0D9A6-9A26-6AEC-E917-903DBDEF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130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7F2D-0E0B-9CC1-FDF7-0CC474A9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F0A84-B78D-018E-FF8E-04CBD4FE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D9429-B953-D9BA-2CD1-4594BE7B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AA4B7-D353-DDD9-8630-B6330FB4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388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686D2-5785-5964-2F9C-7B5FE56F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F3B64-1A5B-58CC-65B5-8A08DB1D3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8561E-20CF-5176-3EC5-A62A2176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032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9DE3C-2060-5D2D-F8B2-BEB91EB5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5E1C-5946-1531-CEA7-A396CCB71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526CE-2D39-768A-648E-CE1A72D14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EE54A-B10C-2C3B-4341-1FF8FF65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9BB24-494A-CA9D-9331-5DDB16DE6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5790-E96D-8EB3-6210-48067F40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4138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3F08-55B1-22DD-64C3-0945D2976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6C833-6816-33D2-0093-859E6EE4A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E0F30-2997-5C95-6A54-21815DE0D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F9F85-C205-140E-6E14-9A300A96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24E04-6D05-C155-2C62-4072062E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1B177-E101-46A5-F107-3CEB4173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281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73B1-143C-821B-3503-E951ED7C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89FF2-8B77-2B27-1C49-646E8F161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C2D46-6714-3648-8803-23BA7430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918BE-4233-BFA9-340C-63C817CB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AA16-5CCD-FFA4-DF9D-BBFB9538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393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91D8B-7111-2476-83F6-795676A5E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CA3F1-4236-92E3-71AD-63C8A481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E3D1B-FFA5-4186-3258-F4A7933CD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12F5B-3F26-DF2D-EB06-E622E7D2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87A07-49FC-9C64-9A39-1AF1F598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131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F4C18-AF49-E25F-F9BD-A6319A268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1CFAC-6CBB-FF52-B10F-C21983B57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EBBA5-CF80-C1B3-343A-FF6F47DE9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03BA8-355D-407B-9FDE-B283348B1A1F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25BE7-2BA3-174E-E15B-04C539020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6425-B620-BECF-1DCA-6831AACEE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4A425-AC1E-4997-B12F-FAB29E74AB3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866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773AF0-8347-1007-CC46-A97B960D2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1266"/>
            <a:ext cx="9144000" cy="1655762"/>
          </a:xfrm>
        </p:spPr>
        <p:txBody>
          <a:bodyPr/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Document Management Insights and Recommendations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Annual Performance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Keith Ng - Data Analyst</a:t>
            </a:r>
          </a:p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Home | VITAL">
            <a:extLst>
              <a:ext uri="{FF2B5EF4-FFF2-40B4-BE49-F238E27FC236}">
                <a16:creationId xmlns:a16="http://schemas.microsoft.com/office/drawing/2014/main" id="{BAD9A590-C35C-86DF-9793-1A8C4C41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363" y="1240972"/>
            <a:ext cx="6589274" cy="259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A258-455D-0E29-1842-CA23B3F9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Table of Contents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D6C44-2C7A-8301-7070-984503325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Project Overview</a:t>
            </a:r>
          </a:p>
          <a:p>
            <a:pPr lvl="0"/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Document Inventory Metrics</a:t>
            </a:r>
          </a:p>
          <a:p>
            <a:pPr lvl="0"/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Insights Deep-Dive</a:t>
            </a:r>
          </a:p>
          <a:p>
            <a:pPr lvl="0"/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Recommendation </a:t>
            </a:r>
          </a:p>
          <a:p>
            <a:pPr lvl="0"/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Appendix (Supplementary information)</a:t>
            </a:r>
          </a:p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37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C220-9973-875C-847D-D1A8A769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57" y="384581"/>
            <a:ext cx="10515600" cy="1325563"/>
          </a:xfrm>
        </p:spPr>
        <p:txBody>
          <a:bodyPr/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33C4F-F181-A9A8-8297-3ABAA831D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1825625"/>
            <a:ext cx="11935144" cy="4351338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Our goal is to 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investigate the performance of the Scan Hub team's document management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to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find areas of large amounts of </a:t>
            </a:r>
            <a:r>
              <a:rPr lang="en-SG" sz="2000" dirty="0" err="1">
                <a:latin typeface="Arial" panose="020B0604020202020204" pitchFamily="34" charset="0"/>
                <a:cs typeface="Arial" panose="020B0604020202020204" pitchFamily="34" charset="0"/>
              </a:rPr>
              <a:t>undigitised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and unreturned documents, providing recommendations for better management of such in the future.</a:t>
            </a:r>
          </a:p>
          <a:p>
            <a:pPr lvl="0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Ultimately, we want to 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control growing backlog(s) properly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, to maintain progress and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prevent resources being strained, allowing us to meet demands and stipulated timelines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around the digitisation and returning of the respective agencies' documents. </a:t>
            </a:r>
          </a:p>
          <a:p>
            <a:pPr>
              <a:lnSpc>
                <a:spcPts val="3000"/>
              </a:lnSpc>
            </a:pPr>
            <a:endParaRPr lang="en-SG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362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7EDE-F533-50A0-076C-4A6859C4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309C-9C63-18FA-DB82-0706867E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15" y="-116946"/>
            <a:ext cx="10515600" cy="1325563"/>
          </a:xfrm>
        </p:spPr>
        <p:txBody>
          <a:bodyPr/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Document Inventory Metrics (1)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B235C-5565-D92A-BBA7-FAFF96ADC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15" y="2668704"/>
            <a:ext cx="12140111" cy="36477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SG" sz="2300" dirty="0">
                <a:latin typeface="Arial" panose="020B0604020202020204" pitchFamily="34" charset="0"/>
                <a:cs typeface="Arial" panose="020B0604020202020204" pitchFamily="34" charset="0"/>
              </a:rPr>
              <a:t>Received, Digitised and Returned Documents</a:t>
            </a:r>
          </a:p>
          <a:p>
            <a:pPr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The three stages of document management within the Scan Hub, in that order.</a:t>
            </a:r>
          </a:p>
          <a:p>
            <a:pPr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Ideally, received documents should be digitised and then returned to their original agency, over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being unfinished at any point within the last two stages.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2D3B7E-246D-30E3-C35E-A47E82D233A4}"/>
              </a:ext>
            </a:extLst>
          </p:cNvPr>
          <p:cNvSpPr txBox="1">
            <a:spLocks/>
          </p:cNvSpPr>
          <p:nvPr/>
        </p:nvSpPr>
        <p:spPr>
          <a:xfrm>
            <a:off x="145915" y="967467"/>
            <a:ext cx="12577863" cy="86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To evaluate the performance of the document inventory's management, the following key metrics will be 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followed: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1282BB-DC59-0028-0338-AA541DEF7884}"/>
              </a:ext>
            </a:extLst>
          </p:cNvPr>
          <p:cNvSpPr txBox="1">
            <a:spLocks/>
          </p:cNvSpPr>
          <p:nvPr/>
        </p:nvSpPr>
        <p:spPr>
          <a:xfrm>
            <a:off x="145915" y="1595254"/>
            <a:ext cx="116440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700" u="sng" dirty="0">
                <a:latin typeface="Arial" panose="020B0604020202020204" pitchFamily="34" charset="0"/>
                <a:cs typeface="Arial" panose="020B0604020202020204" pitchFamily="34" charset="0"/>
              </a:rPr>
              <a:t>Completed Documents per Stages</a:t>
            </a:r>
          </a:p>
        </p:txBody>
      </p:sp>
    </p:spTree>
    <p:extLst>
      <p:ext uri="{BB962C8B-B14F-4D97-AF65-F5344CB8AC3E}">
        <p14:creationId xmlns:p14="http://schemas.microsoft.com/office/powerpoint/2010/main" val="2532637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ED6F-51E3-8650-2879-C7D94B3C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68602-85AB-E49D-5D17-02AC87FEF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15" y="2738226"/>
            <a:ext cx="12140111" cy="493192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SG" sz="2200" dirty="0">
                <a:latin typeface="Arial" panose="020B0604020202020204" pitchFamily="34" charset="0"/>
                <a:cs typeface="Arial" panose="020B0604020202020204" pitchFamily="34" charset="0"/>
              </a:rPr>
              <a:t>1) Agency</a:t>
            </a:r>
          </a:p>
          <a:p>
            <a:pPr>
              <a:lnSpc>
                <a:spcPct val="150000"/>
              </a:lnSpc>
            </a:pPr>
            <a:r>
              <a:rPr lang="en-SG" sz="1800" dirty="0">
                <a:latin typeface="Arial" panose="020B0604020202020204" pitchFamily="34" charset="0"/>
                <a:cs typeface="Arial" panose="020B0604020202020204" pitchFamily="34" charset="0"/>
              </a:rPr>
              <a:t>Where the received documents belong to each of such. Being a top-level category, we will focus on this first before vendors.</a:t>
            </a:r>
          </a:p>
          <a:p>
            <a:pPr mar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en-SG" sz="2200" dirty="0">
                <a:latin typeface="Arial" panose="020B0604020202020204" pitchFamily="34" charset="0"/>
                <a:cs typeface="Arial" panose="020B0604020202020204" pitchFamily="34" charset="0"/>
              </a:rPr>
              <a:t>2) Vendor</a:t>
            </a: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en-SG" sz="1800" dirty="0">
                <a:latin typeface="Arial" panose="020B0604020202020204" pitchFamily="34" charset="0"/>
                <a:cs typeface="Arial" panose="020B0604020202020204" pitchFamily="34" charset="0"/>
              </a:rPr>
              <a:t>The suppliers assigned to each agency that provide documents of varying amounts.</a:t>
            </a:r>
          </a:p>
          <a:p>
            <a:pPr mar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en-SG" sz="2200" dirty="0">
                <a:latin typeface="Arial" panose="020B0604020202020204" pitchFamily="34" charset="0"/>
                <a:cs typeface="Arial" panose="020B0604020202020204" pitchFamily="34" charset="0"/>
              </a:rPr>
              <a:t>3) Year/Month</a:t>
            </a: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en-SG" sz="1800" dirty="0">
                <a:latin typeface="Arial" panose="020B0604020202020204" pitchFamily="34" charset="0"/>
                <a:cs typeface="Arial" panose="020B0604020202020204" pitchFamily="34" charset="0"/>
              </a:rPr>
              <a:t>Tracks the total amount of documents received/digitised/returned over given years/months.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BEEE3B-AFF7-D1C5-F772-6A2F75472D28}"/>
              </a:ext>
            </a:extLst>
          </p:cNvPr>
          <p:cNvSpPr txBox="1">
            <a:spLocks/>
          </p:cNvSpPr>
          <p:nvPr/>
        </p:nvSpPr>
        <p:spPr>
          <a:xfrm>
            <a:off x="145915" y="1653813"/>
            <a:ext cx="116440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500" u="sng" dirty="0">
                <a:latin typeface="Arial" panose="020B0604020202020204" pitchFamily="34" charset="0"/>
                <a:cs typeface="Arial" panose="020B0604020202020204" pitchFamily="34" charset="0"/>
              </a:rPr>
              <a:t>Completed Documents per Category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D0E04E-C9E8-B5F9-185A-56BD3356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15" y="-116946"/>
            <a:ext cx="10515600" cy="1325563"/>
          </a:xfrm>
        </p:spPr>
        <p:txBody>
          <a:bodyPr/>
          <a:lstStyle/>
          <a:p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Document Inventory Metrics (2)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A0AAC6-AE61-7C20-B06A-4AD20AE1B146}"/>
              </a:ext>
            </a:extLst>
          </p:cNvPr>
          <p:cNvSpPr txBox="1">
            <a:spLocks/>
          </p:cNvSpPr>
          <p:nvPr/>
        </p:nvSpPr>
        <p:spPr>
          <a:xfrm>
            <a:off x="145915" y="967467"/>
            <a:ext cx="12577863" cy="86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To evaluate the performance of the document inventory's management, the following key metrics will be 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followed:</a:t>
            </a:r>
          </a:p>
        </p:txBody>
      </p:sp>
    </p:spTree>
    <p:extLst>
      <p:ext uri="{BB962C8B-B14F-4D97-AF65-F5344CB8AC3E}">
        <p14:creationId xmlns:p14="http://schemas.microsoft.com/office/powerpoint/2010/main" val="318102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2ECA4A-02B8-E56A-0218-93FDE5FC61F2}"/>
              </a:ext>
            </a:extLst>
          </p:cNvPr>
          <p:cNvSpPr txBox="1"/>
          <p:nvPr/>
        </p:nvSpPr>
        <p:spPr>
          <a:xfrm>
            <a:off x="-319203" y="2482330"/>
            <a:ext cx="5958003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 2020 to 2022</a:t>
            </a:r>
            <a:r>
              <a:rPr lang="en-SG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received documents </a:t>
            </a:r>
            <a:br>
              <a:rPr lang="en-SG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increased </a:t>
            </a: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 10849 in 2020 to 28930 in 2021, followed by 31748 in 2022.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 total, the received documents increased by192% from 2020 to 2022.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2E9C3B-9D5E-6C04-8A2B-1217257C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943" y="1761835"/>
            <a:ext cx="6096000" cy="3334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96AB7E-4D97-E075-017A-363BEF097374}"/>
              </a:ext>
            </a:extLst>
          </p:cNvPr>
          <p:cNvSpPr txBox="1"/>
          <p:nvPr/>
        </p:nvSpPr>
        <p:spPr>
          <a:xfrm>
            <a:off x="185056" y="267751"/>
            <a:ext cx="11549743" cy="950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SG" sz="25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 management was relatively stable until 2021 and 2022, when the</a:t>
            </a:r>
            <a:r>
              <a:rPr lang="en-SG" sz="25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en-SG" sz="25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received documents alarmingly increased, but left unfinished. (1)</a:t>
            </a:r>
            <a:endParaRPr lang="en-SG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5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71D0-643D-756F-9CB1-604C21BF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CFCCCC-4D84-A5E3-B8C7-22638ECE8DA3}"/>
              </a:ext>
            </a:extLst>
          </p:cNvPr>
          <p:cNvSpPr txBox="1"/>
          <p:nvPr/>
        </p:nvSpPr>
        <p:spPr>
          <a:xfrm>
            <a:off x="185056" y="267751"/>
            <a:ext cx="11549743" cy="950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SG" sz="25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 management was relatively stable until 2021 and 2022, when the</a:t>
            </a:r>
            <a:r>
              <a:rPr lang="en-SG" sz="25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en-SG" sz="25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received documents alarmingly increased, but left unfinished. (2)</a:t>
            </a:r>
            <a:endParaRPr lang="en-SG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83602-A714-85C2-195A-D8455CDAD5C2}"/>
              </a:ext>
            </a:extLst>
          </p:cNvPr>
          <p:cNvSpPr txBox="1"/>
          <p:nvPr/>
        </p:nvSpPr>
        <p:spPr>
          <a:xfrm>
            <a:off x="-391486" y="2412358"/>
            <a:ext cx="6237114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Inversely</a:t>
            </a:r>
            <a:r>
              <a:rPr lang="en-SG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returned and digitised documents </a:t>
            </a:r>
            <a:br>
              <a:rPr lang="en-SG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failed to keep up</a:t>
            </a: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with values of 7154 (24% done)</a:t>
            </a:r>
            <a:b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 12566 (43%) in 2021.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SG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worsened in 2022 </a:t>
            </a: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 declining further in </a:t>
            </a:r>
            <a:b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both categories while the received documents rose, </a:t>
            </a:r>
            <a:b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 1904 (5%) and 4525 (15%).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96DF0E-B48C-39E3-9655-BF955B6D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41" y="1941740"/>
            <a:ext cx="63150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9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25C8-94D3-EE1F-6DCC-FBB2177B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29" y="354239"/>
            <a:ext cx="11070771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Agency 0 </a:t>
            </a:r>
            <a:r>
              <a:rPr lang="en-SG" sz="3000" dirty="0">
                <a:latin typeface="Arial" panose="020B0604020202020204" pitchFamily="34" charset="0"/>
                <a:cs typeface="Arial" panose="020B0604020202020204" pitchFamily="34" charset="0"/>
              </a:rPr>
              <a:t>is the</a:t>
            </a:r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 biggest source of documents</a:t>
            </a:r>
            <a:r>
              <a:rPr lang="en-SG" sz="3000" dirty="0">
                <a:latin typeface="Arial" panose="020B0604020202020204" pitchFamily="34" charset="0"/>
                <a:cs typeface="Arial" panose="020B0604020202020204" pitchFamily="34" charset="0"/>
              </a:rPr>
              <a:t> between the </a:t>
            </a:r>
            <a:br>
              <a:rPr lang="en-SG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3000" dirty="0">
                <a:latin typeface="Arial" panose="020B0604020202020204" pitchFamily="34" charset="0"/>
                <a:cs typeface="Arial" panose="020B0604020202020204" pitchFamily="34" charset="0"/>
              </a:rPr>
              <a:t>two years of 2021 - 2022.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9AE3E-CF62-221B-D538-76BFCE090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Under both years, Agency 0 provided the amount documents below (received):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20021/28930 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69%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in 2021)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25294/31748 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79%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in 2022)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However, when drilling Agency 0 down by Vendor, we can find a more direct source of these documents, to better understand </a:t>
            </a:r>
            <a:r>
              <a:rPr lang="en-SG" sz="2000" i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the problem should be addressed.</a:t>
            </a:r>
          </a:p>
        </p:txBody>
      </p:sp>
    </p:spTree>
    <p:extLst>
      <p:ext uri="{BB962C8B-B14F-4D97-AF65-F5344CB8AC3E}">
        <p14:creationId xmlns:p14="http://schemas.microsoft.com/office/powerpoint/2010/main" val="400889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FC46-20FB-243B-D8F1-CCF09EFC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3F18-28CC-239D-64C6-98BAD172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29" y="354239"/>
            <a:ext cx="11070771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Vendor D</a:t>
            </a:r>
            <a:r>
              <a:rPr lang="en-SG" sz="3000" dirty="0">
                <a:latin typeface="Arial" panose="020B0604020202020204" pitchFamily="34" charset="0"/>
                <a:cs typeface="Arial" panose="020B0604020202020204" pitchFamily="34" charset="0"/>
              </a:rPr>
              <a:t> is the source of almost all of Agency 0's documents across both years, </a:t>
            </a:r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causing its overflow</a:t>
            </a:r>
            <a:r>
              <a:rPr lang="en-SG" sz="3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4E51-463D-4329-0B06-19827D5BB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In 2021 and 2022 respectively, Vendor D contributed to Agency 0 by: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19811/20021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98%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 in 2021)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24671/25294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97% 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in 2022)</a:t>
            </a:r>
          </a:p>
          <a:p>
            <a:pPr marL="0" lv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However, with only one vendor behind the huge influx of documents, it may be easier to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control/investigate over having multiple to attend to.</a:t>
            </a:r>
          </a:p>
        </p:txBody>
      </p:sp>
    </p:spTree>
    <p:extLst>
      <p:ext uri="{BB962C8B-B14F-4D97-AF65-F5344CB8AC3E}">
        <p14:creationId xmlns:p14="http://schemas.microsoft.com/office/powerpoint/2010/main" val="188568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BE103-40CB-C01C-1FEE-F33CF87D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CBCB-A443-63B9-AC35-F36CA300F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140879"/>
            <a:ext cx="11179629" cy="18991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Agency 0 under Vendor D 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is the biggest source of documents between </a:t>
            </a:r>
            <a:b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the two years, causing the </a:t>
            </a: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high number of undigitized and unreturned </a:t>
            </a:r>
            <a:b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amounts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 within the timeframe.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CEAD-48A2-C8FD-84CD-F1D80E5E2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2253343"/>
            <a:ext cx="11179628" cy="4351338"/>
          </a:xfrm>
        </p:spPr>
        <p:txBody>
          <a:bodyPr>
            <a:norm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With a very low completion rate, it caused the gap in our trends: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7380/19881 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37% 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digitised in 2021)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1894/19881 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9% 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returned in 2021)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Worse still, it had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 0 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digitised or returned documents in 2022.</a:t>
            </a:r>
          </a:p>
        </p:txBody>
      </p:sp>
    </p:spTree>
    <p:extLst>
      <p:ext uri="{BB962C8B-B14F-4D97-AF65-F5344CB8AC3E}">
        <p14:creationId xmlns:p14="http://schemas.microsoft.com/office/powerpoint/2010/main" val="283119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0140-8FB3-A455-7D18-AF713C89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5D7C-779E-5A89-C74F-9CB7A345E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" y="2253342"/>
            <a:ext cx="11593285" cy="4604657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To further highlight its low progress within both years, when adding their total received documents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together, no values even match a 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quarter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of work done.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7380/44482 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16%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digitised overall) </a:t>
            </a:r>
          </a:p>
          <a:p>
            <a:pPr lvl="1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1894/44482 (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4%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returned overall)</a:t>
            </a:r>
          </a:p>
          <a:p>
            <a:pPr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As Agency 0 is related to many Singaporean students' academic records, it becomes more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urgent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for it to be resolved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 as soon as possible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75D165-64AE-FDC3-6673-5DBFF429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140879"/>
            <a:ext cx="11179629" cy="18991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Agency 0 under Vendor D 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is the biggest source of documents between </a:t>
            </a:r>
            <a:b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the two years, causing the </a:t>
            </a: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high number of undigitized and unreturned </a:t>
            </a:r>
            <a:b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amounts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 within the timeframe. (2)</a:t>
            </a:r>
          </a:p>
        </p:txBody>
      </p:sp>
    </p:spTree>
    <p:extLst>
      <p:ext uri="{BB962C8B-B14F-4D97-AF65-F5344CB8AC3E}">
        <p14:creationId xmlns:p14="http://schemas.microsoft.com/office/powerpoint/2010/main" val="2968929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F0B9-6166-6B12-EA38-E8BE01ED6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F14-57A0-C5EF-ED9F-BF5675B5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201839"/>
            <a:ext cx="11179629" cy="18991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Where will the presentation go from here?</a:t>
            </a:r>
            <a:endParaRPr lang="en-SG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B91E-F445-A49C-F4D9-87ED477D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" y="2253342"/>
            <a:ext cx="11593285" cy="4604657"/>
          </a:xfrm>
        </p:spPr>
        <p:txBody>
          <a:bodyPr>
            <a:noAutofit/>
          </a:bodyPr>
          <a:lstStyle/>
          <a:p>
            <a:pPr lvl="0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We will determine the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 problems within Agency 0’s management 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(provided only by Vendor D only), which can be used for other agencies if necessary.</a:t>
            </a:r>
          </a:p>
          <a:p>
            <a:pPr lvl="0">
              <a:lnSpc>
                <a:spcPts val="3000"/>
              </a:lnSpc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To focus on important takeaways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, no other agencies/vendors 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will be covered due to them generally providing less documents, making them of a lower priority.</a:t>
            </a:r>
          </a:p>
        </p:txBody>
      </p:sp>
    </p:spTree>
    <p:extLst>
      <p:ext uri="{BB962C8B-B14F-4D97-AF65-F5344CB8AC3E}">
        <p14:creationId xmlns:p14="http://schemas.microsoft.com/office/powerpoint/2010/main" val="2005099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ECE33-C010-B772-DBF2-EBAB0B5D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6F8E5E-51BA-770C-B034-A6B1A69D2328}"/>
              </a:ext>
            </a:extLst>
          </p:cNvPr>
          <p:cNvSpPr txBox="1"/>
          <p:nvPr/>
        </p:nvSpPr>
        <p:spPr>
          <a:xfrm>
            <a:off x="185057" y="267751"/>
            <a:ext cx="116803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2021 and 2022's </a:t>
            </a: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inconsistencies and/or neglect with the digitisation and </a:t>
            </a:r>
            <a:b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returning of documents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 caused its poor document management. 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1D17A9-88C7-F97A-BBBE-E8ED07460648}"/>
              </a:ext>
            </a:extLst>
          </p:cNvPr>
          <p:cNvSpPr txBox="1"/>
          <p:nvPr/>
        </p:nvSpPr>
        <p:spPr>
          <a:xfrm>
            <a:off x="-319203" y="2035290"/>
            <a:ext cx="5897043" cy="312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Agency 0's Vendor D in 2021</a:t>
            </a:r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 returned no</a:t>
            </a:r>
            <a:b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documents beyond February, </a:t>
            </a: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besides </a:t>
            </a:r>
            <a:b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being</a:t>
            </a:r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incomplete for both months</a:t>
            </a:r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SG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Oddly, the</a:t>
            </a:r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returning of documents </a:t>
            </a:r>
            <a:r>
              <a:rPr lang="en-SG" b="1" dirty="0">
                <a:latin typeface="Arial" panose="020B0604020202020204" pitchFamily="34" charset="0"/>
                <a:cs typeface="Arial" panose="020B0604020202020204" pitchFamily="34" charset="0"/>
              </a:rPr>
              <a:t>lasted much shorter than its own digitisation</a:t>
            </a: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, adding an </a:t>
            </a:r>
            <a:b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inconsistency the two to be investigated by the team.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E95D1-3410-C9E6-2B32-B010F047E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84995"/>
            <a:ext cx="6287589" cy="424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30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230B0-5DB5-3102-5EC1-E0121732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CA5110-6868-1AA7-BEDF-8C78E90EC2DC}"/>
              </a:ext>
            </a:extLst>
          </p:cNvPr>
          <p:cNvSpPr txBox="1"/>
          <p:nvPr/>
        </p:nvSpPr>
        <p:spPr>
          <a:xfrm>
            <a:off x="185057" y="267751"/>
            <a:ext cx="116803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2021 and 2022's </a:t>
            </a: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inconsistencies and/or neglect with the digitisation and </a:t>
            </a:r>
            <a:b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returning of documents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 caused its poor document management. (2)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D593F-5EF1-10C7-135E-28DD22FCB26B}"/>
              </a:ext>
            </a:extLst>
          </p:cNvPr>
          <p:cNvSpPr txBox="1"/>
          <p:nvPr/>
        </p:nvSpPr>
        <p:spPr>
          <a:xfrm>
            <a:off x="128201" y="1547608"/>
            <a:ext cx="5317560" cy="427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Except for January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, all documents were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consistently digitised from February to June.</a:t>
            </a: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This stopped in July 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with less than half done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(455/1328), before abruptly failing to digitise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any more documents for the rest of 2021.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SG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The inconsistency within both categories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through completing some/all work and then not 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across months, and a mismatch in both categories’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actions could bring down and progress in the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long run.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9516F-6D7B-D4F3-6641-ACFFD31F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824" y="1821563"/>
            <a:ext cx="6398605" cy="372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5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B63F-88ED-0B84-3ACC-C44C7EA3F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C609042-70C1-F1D6-D0BA-48714984E589}"/>
              </a:ext>
            </a:extLst>
          </p:cNvPr>
          <p:cNvSpPr txBox="1"/>
          <p:nvPr/>
        </p:nvSpPr>
        <p:spPr>
          <a:xfrm>
            <a:off x="185057" y="267751"/>
            <a:ext cx="116803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2021 and 2022's </a:t>
            </a: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inconsistencies and/or neglect with the digitisation and </a:t>
            </a:r>
            <a:b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returning of documents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 caused its poor document management. (3)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C4EA5-0140-794B-DC2C-36A95D72A469}"/>
              </a:ext>
            </a:extLst>
          </p:cNvPr>
          <p:cNvSpPr txBox="1"/>
          <p:nvPr/>
        </p:nvSpPr>
        <p:spPr>
          <a:xfrm>
            <a:off x="185057" y="1997960"/>
            <a:ext cx="5312680" cy="312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 spike of received documents between </a:t>
            </a:r>
            <a:b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November/December 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(summed to 9010) from 446 in October, caused the 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overflow 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in 2021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SG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SG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With no returned/digitised documents by then,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this issue worsened by possibly being 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undetected 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an notable stack of unfinished work over a year old, which could happen again if not addressed.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90D55-7A21-5CC0-79BB-D0B8AE149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275" y="1831284"/>
            <a:ext cx="6162154" cy="369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88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AFE5-C252-0925-8912-C17E2EB05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4C33C6-B065-AA46-F57F-7C2BB2D0EB86}"/>
              </a:ext>
            </a:extLst>
          </p:cNvPr>
          <p:cNvSpPr txBox="1"/>
          <p:nvPr/>
        </p:nvSpPr>
        <p:spPr>
          <a:xfrm>
            <a:off x="185057" y="267751"/>
            <a:ext cx="116803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2021 and 2022's </a:t>
            </a: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inconsistencies and/or neglect with the digitisation and </a:t>
            </a:r>
            <a:b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500" b="1" dirty="0">
                <a:latin typeface="Arial" panose="020B0604020202020204" pitchFamily="34" charset="0"/>
                <a:cs typeface="Arial" panose="020B0604020202020204" pitchFamily="34" charset="0"/>
              </a:rPr>
              <a:t>returning of documents</a:t>
            </a:r>
            <a:r>
              <a:rPr lang="en-SG" sz="2500" dirty="0">
                <a:latin typeface="Arial" panose="020B0604020202020204" pitchFamily="34" charset="0"/>
                <a:cs typeface="Arial" panose="020B0604020202020204" pitchFamily="34" charset="0"/>
              </a:rPr>
              <a:t> caused its poor document management. (4)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DE0807-A597-6191-87F9-762130F8F439}"/>
              </a:ext>
            </a:extLst>
          </p:cNvPr>
          <p:cNvSpPr txBox="1"/>
          <p:nvPr/>
        </p:nvSpPr>
        <p:spPr>
          <a:xfrm>
            <a:off x="185057" y="2079240"/>
            <a:ext cx="5312680" cy="312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Despite the downward trend in received documents, more were still present by the end of he year, as 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24671 in 2022 over 19881.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However, 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it regressed further 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returning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nor digitising any,</a:t>
            </a:r>
            <a:r>
              <a:rPr lang="en-SG" sz="16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creating even more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outstanding work to finish on top of the previous year.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SG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C3CD3-9653-435F-1907-7D0E20B7D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273" y="1661303"/>
            <a:ext cx="6487670" cy="379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76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416B-57AF-9951-7562-344A2BD8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27B171-CD54-3386-30E8-17AD88EB2116}"/>
              </a:ext>
            </a:extLst>
          </p:cNvPr>
          <p:cNvSpPr txBox="1"/>
          <p:nvPr/>
        </p:nvSpPr>
        <p:spPr>
          <a:xfrm>
            <a:off x="337457" y="663991"/>
            <a:ext cx="116803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Why is any of this important?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3AAF1-9315-DFE1-C0C3-2DA2FDC6FFA3}"/>
              </a:ext>
            </a:extLst>
          </p:cNvPr>
          <p:cNvSpPr txBox="1"/>
          <p:nvPr/>
        </p:nvSpPr>
        <p:spPr>
          <a:xfrm>
            <a:off x="124097" y="2018280"/>
            <a:ext cx="11509103" cy="120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Given the older years, </a:t>
            </a:r>
            <a:r>
              <a:rPr lang="en-SG" sz="2000" b="1" dirty="0">
                <a:latin typeface="Arial" panose="020B0604020202020204" pitchFamily="34" charset="0"/>
                <a:cs typeface="Arial" panose="020B0604020202020204" pitchFamily="34" charset="0"/>
              </a:rPr>
              <a:t>it may be more challenging to attend to unfinished work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 due to newer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priorities, thus making it harder to resolve presently - the reason why timeliness of output remains </a:t>
            </a:r>
            <a:b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crucial within the document’s management.</a:t>
            </a:r>
          </a:p>
        </p:txBody>
      </p:sp>
    </p:spTree>
    <p:extLst>
      <p:ext uri="{BB962C8B-B14F-4D97-AF65-F5344CB8AC3E}">
        <p14:creationId xmlns:p14="http://schemas.microsoft.com/office/powerpoint/2010/main" val="2812476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DC50-37E5-B590-4449-442D26E9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B8EB0D-CDEF-132D-AC2B-0DA26B2F8879}"/>
              </a:ext>
            </a:extLst>
          </p:cNvPr>
          <p:cNvSpPr txBox="1"/>
          <p:nvPr/>
        </p:nvSpPr>
        <p:spPr>
          <a:xfrm>
            <a:off x="255814" y="2259111"/>
            <a:ext cx="116803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50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 </a:t>
            </a:r>
            <a:endParaRPr lang="en-SG" sz="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SG" sz="5000" b="1" dirty="0">
                <a:latin typeface="Arial" panose="020B0604020202020204" pitchFamily="34" charset="0"/>
                <a:cs typeface="Arial" panose="020B0604020202020204" pitchFamily="34" charset="0"/>
              </a:rPr>
              <a:t>and Next Steps</a:t>
            </a:r>
            <a:endParaRPr lang="en-SG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887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ABDCD-C662-A221-3BE3-1A58A411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D0FE-D0C1-0DBC-7C9D-1E4A445E6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32" y="0"/>
            <a:ext cx="11070771" cy="1325563"/>
          </a:xfrm>
        </p:spPr>
        <p:txBody>
          <a:bodyPr>
            <a:normAutofit/>
          </a:bodyPr>
          <a:lstStyle/>
          <a:p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Key Recommendations</a:t>
            </a:r>
            <a:endParaRPr lang="en-SG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F52A7-D9E6-00BD-5129-DB49C9C30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32" y="1066868"/>
            <a:ext cx="11878168" cy="1005123"/>
          </a:xfrm>
        </p:spPr>
        <p:txBody>
          <a:bodyPr>
            <a:noAutofit/>
          </a:bodyPr>
          <a:lstStyle/>
          <a:p>
            <a:pPr marL="0" lvl="0" indent="0">
              <a:lnSpc>
                <a:spcPts val="3000"/>
              </a:lnSpc>
              <a:buNone/>
            </a:pP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Recommendations focus on two given strategies: Re-examining the status of the Scan Hub team as well as addressing prioritized </a:t>
            </a:r>
            <a:b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agencies and/or vendors and frequent monitoring of both categories in general.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1D5143-A64C-B7E2-F45B-C4E338C70A69}"/>
              </a:ext>
            </a:extLst>
          </p:cNvPr>
          <p:cNvSpPr txBox="1">
            <a:spLocks/>
          </p:cNvSpPr>
          <p:nvPr/>
        </p:nvSpPr>
        <p:spPr>
          <a:xfrm>
            <a:off x="262648" y="2166194"/>
            <a:ext cx="11848290" cy="4798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SG" sz="3600" u="sng" dirty="0">
                <a:latin typeface="Arial" panose="020B0604020202020204" pitchFamily="34" charset="0"/>
                <a:cs typeface="Arial" panose="020B0604020202020204" pitchFamily="34" charset="0"/>
              </a:rPr>
              <a:t>Improve the Consistency of Completed Work</a:t>
            </a:r>
          </a:p>
          <a:p>
            <a:pPr lvl="0">
              <a:lnSpc>
                <a:spcPts val="3000"/>
              </a:lnSpc>
            </a:pPr>
            <a:r>
              <a:rPr lang="en-SG" sz="2900" b="1" dirty="0">
                <a:latin typeface="Arial" panose="020B0604020202020204" pitchFamily="34" charset="0"/>
                <a:cs typeface="Arial" panose="020B0604020202020204" pitchFamily="34" charset="0"/>
              </a:rPr>
              <a:t>Check for sufficient manpower</a:t>
            </a: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: If possible, increase the manpower via taking in consideration the overall amount of </a:t>
            </a:r>
            <a:b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documents to handle, especially with the possibility of agencies/vendors that send higher amounts.</a:t>
            </a:r>
          </a:p>
          <a:p>
            <a:pPr lvl="0">
              <a:lnSpc>
                <a:spcPts val="3000"/>
              </a:lnSpc>
            </a:pPr>
            <a:r>
              <a:rPr lang="en-SG" sz="2900" b="1" dirty="0">
                <a:latin typeface="Arial" panose="020B0604020202020204" pitchFamily="34" charset="0"/>
                <a:cs typeface="Arial" panose="020B0604020202020204" pitchFamily="34" charset="0"/>
              </a:rPr>
              <a:t>Solve the reason behind inconsistency</a:t>
            </a: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: Investigate the general management of documents to know the actual reason </a:t>
            </a:r>
            <a:b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behind inconsistent/incomplete digitisation and returning, before taking appropriate action.</a:t>
            </a:r>
          </a:p>
          <a:p>
            <a:pPr lvl="0">
              <a:lnSpc>
                <a:spcPts val="3000"/>
              </a:lnSpc>
            </a:pPr>
            <a:r>
              <a:rPr lang="en-SG" sz="2900" b="1" dirty="0">
                <a:latin typeface="Arial" panose="020B0604020202020204" pitchFamily="34" charset="0"/>
                <a:cs typeface="Arial" panose="020B0604020202020204" pitchFamily="34" charset="0"/>
              </a:rPr>
              <a:t>Track progress frequently</a:t>
            </a: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: At the end of every week, use a bar graph in Excel to detect what documents have yet to be </a:t>
            </a:r>
            <a:b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digitised and returned, against what has been received.</a:t>
            </a:r>
          </a:p>
          <a:p>
            <a:pPr lvl="0">
              <a:lnSpc>
                <a:spcPts val="3000"/>
              </a:lnSpc>
            </a:pPr>
            <a:r>
              <a:rPr lang="en-SG" sz="2900" b="1" dirty="0">
                <a:latin typeface="Arial" panose="020B0604020202020204" pitchFamily="34" charset="0"/>
                <a:cs typeface="Arial" panose="020B0604020202020204" pitchFamily="34" charset="0"/>
              </a:rPr>
              <a:t>Pay closer attention to areas of larger output</a:t>
            </a: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: Keep a close eye on any agency/vendors with a history of sending higher </a:t>
            </a:r>
            <a:b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900" dirty="0">
                <a:latin typeface="Arial" panose="020B0604020202020204" pitchFamily="34" charset="0"/>
                <a:cs typeface="Arial" panose="020B0604020202020204" pitchFamily="34" charset="0"/>
              </a:rPr>
              <a:t>amounts of documents, to detect and address unexpected anomalies as soon as possible.</a:t>
            </a:r>
          </a:p>
        </p:txBody>
      </p:sp>
    </p:spTree>
    <p:extLst>
      <p:ext uri="{BB962C8B-B14F-4D97-AF65-F5344CB8AC3E}">
        <p14:creationId xmlns:p14="http://schemas.microsoft.com/office/powerpoint/2010/main" val="3203952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4A6-CE15-C524-9481-F0F29ED5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FDB415-9ABC-1E28-78FD-CBCA1DE708D7}"/>
              </a:ext>
            </a:extLst>
          </p:cNvPr>
          <p:cNvSpPr txBox="1"/>
          <p:nvPr/>
        </p:nvSpPr>
        <p:spPr>
          <a:xfrm>
            <a:off x="255814" y="2567226"/>
            <a:ext cx="116803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SG" sz="5000" b="1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SG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00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20C5-8E23-F034-CD89-C6DBC3C1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FD1F95-E233-6D47-4539-CA3133509C83}"/>
              </a:ext>
            </a:extLst>
          </p:cNvPr>
          <p:cNvSpPr txBox="1"/>
          <p:nvPr/>
        </p:nvSpPr>
        <p:spPr>
          <a:xfrm>
            <a:off x="255814" y="2567226"/>
            <a:ext cx="11680372" cy="149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SG" sz="5000" b="1" dirty="0"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  <a:br>
              <a:rPr lang="en-SG" sz="5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(There’s no more analysis, just misc. stats)</a:t>
            </a:r>
          </a:p>
        </p:txBody>
      </p:sp>
    </p:spTree>
    <p:extLst>
      <p:ext uri="{BB962C8B-B14F-4D97-AF65-F5344CB8AC3E}">
        <p14:creationId xmlns:p14="http://schemas.microsoft.com/office/powerpoint/2010/main" val="1990431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852A-816B-7D10-1325-8DD2D025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F975-C611-FE5B-9FB5-71658854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32" y="0"/>
            <a:ext cx="11070771" cy="1325563"/>
          </a:xfrm>
        </p:spPr>
        <p:txBody>
          <a:bodyPr>
            <a:normAutofit/>
          </a:bodyPr>
          <a:lstStyle/>
          <a:p>
            <a:r>
              <a:rPr lang="en-SG" sz="3000" b="1" dirty="0">
                <a:latin typeface="Arial" panose="020B0604020202020204" pitchFamily="34" charset="0"/>
                <a:cs typeface="Arial" panose="020B0604020202020204" pitchFamily="34" charset="0"/>
              </a:rPr>
              <a:t>Technical Process</a:t>
            </a:r>
            <a:endParaRPr lang="en-SG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5541A-296D-9AE7-C01D-EDC8D068E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32" y="1087120"/>
            <a:ext cx="11766408" cy="5577839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r>
              <a:rPr lang="en-SG" sz="3300" b="1" dirty="0">
                <a:latin typeface="Arial" panose="020B0604020202020204" pitchFamily="34" charset="0"/>
                <a:cs typeface="Arial" panose="020B0604020202020204" pitchFamily="34" charset="0"/>
              </a:rPr>
              <a:t>Dataset stats:</a:t>
            </a:r>
            <a:endParaRPr lang="en-SG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A total of 37 unique agencies were </a:t>
            </a:r>
            <a:r>
              <a:rPr lang="en-SG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 alongside 6 vendors (1 is unidentified, while 5 are identified) underneath them</a:t>
            </a: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Data ranges from 20 November 2017 - 20 December 2022</a:t>
            </a:r>
          </a:p>
          <a:p>
            <a:pPr lvl="0">
              <a:lnSpc>
                <a:spcPct val="120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Out of 78530 received documents across the 5 years, only 32992 (42.01%) and 25774 (32.82%) had been digitised and returned </a:t>
            </a:r>
            <a:b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respectively</a:t>
            </a:r>
          </a:p>
          <a:p>
            <a:pPr marL="0" indent="0">
              <a:lnSpc>
                <a:spcPts val="2000"/>
              </a:lnSpc>
              <a:spcBef>
                <a:spcPts val="2000"/>
              </a:spcBef>
              <a:buNone/>
            </a:pPr>
            <a:r>
              <a:rPr lang="en-SG" sz="3300" b="1" dirty="0">
                <a:latin typeface="Arial" panose="020B0604020202020204" pitchFamily="34" charset="0"/>
                <a:cs typeface="Arial" panose="020B0604020202020204" pitchFamily="34" charset="0"/>
              </a:rPr>
              <a:t>Data points involved:</a:t>
            </a:r>
            <a:endParaRPr lang="en-SG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Date: Months, Year</a:t>
            </a: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Document Progress: Returned, Received, Digitised</a:t>
            </a: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Document Sources: Agency, Vendor</a:t>
            </a:r>
          </a:p>
          <a:p>
            <a:pPr marL="0" indent="0">
              <a:lnSpc>
                <a:spcPts val="2000"/>
              </a:lnSpc>
              <a:spcBef>
                <a:spcPts val="2000"/>
              </a:spcBef>
              <a:buNone/>
            </a:pPr>
            <a:r>
              <a:rPr lang="en-SG" sz="3300" b="1" dirty="0">
                <a:latin typeface="Arial" panose="020B0604020202020204" pitchFamily="34" charset="0"/>
                <a:cs typeface="Arial" panose="020B0604020202020204" pitchFamily="34" charset="0"/>
              </a:rPr>
              <a:t>Technical process included:</a:t>
            </a:r>
            <a:endParaRPr lang="en-SG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Loading data into Power BI from Excel</a:t>
            </a: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Building a self-service dashboard in Power BI for visualization through toggleable filters (Agency, Year/</a:t>
            </a:r>
            <a:r>
              <a:rPr lang="en-SG" dirty="0" err="1">
                <a:latin typeface="Arial" panose="020B0604020202020204" pitchFamily="34" charset="0"/>
                <a:cs typeface="Arial" panose="020B0604020202020204" pitchFamily="34" charset="0"/>
              </a:rPr>
              <a:t>Qtr</a:t>
            </a: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/Month, Vendor)</a:t>
            </a: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Creating calculated functions to display % of Digitised/Returned</a:t>
            </a:r>
          </a:p>
          <a:p>
            <a:pPr lvl="0">
              <a:lnSpc>
                <a:spcPts val="2000"/>
              </a:lnSpc>
            </a:pPr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Basic data cleaning for the dataset per agency (e.g. Removing redundant columns, managing missing data, etc)</a:t>
            </a:r>
          </a:p>
          <a:p>
            <a:pPr>
              <a:lnSpc>
                <a:spcPts val="2000"/>
              </a:lnSpc>
            </a:pP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78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1591</Words>
  <Application>Microsoft Office PowerPoint</Application>
  <PresentationFormat>Widescreen</PresentationFormat>
  <Paragraphs>98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Table of Contents</vt:lpstr>
      <vt:lpstr>Context</vt:lpstr>
      <vt:lpstr>Document Inventory Metrics (1)</vt:lpstr>
      <vt:lpstr>Document Inventory Metrics (2)</vt:lpstr>
      <vt:lpstr>PowerPoint Presentation</vt:lpstr>
      <vt:lpstr>PowerPoint Presentation</vt:lpstr>
      <vt:lpstr>Agency 0 is the biggest source of documents between the  two years of 2021 - 2022.</vt:lpstr>
      <vt:lpstr>Vendor D is the source of almost all of Agency 0's documents across both years, causing its overflow.</vt:lpstr>
      <vt:lpstr>Agency 0 under Vendor D is the biggest source of documents between  the two years, causing the high number of undigitized and unreturned  amounts within the timeframe. (1)</vt:lpstr>
      <vt:lpstr>Agency 0 under Vendor D is the biggest source of documents between  the two years, causing the high number of undigitized and unreturned  amounts within the timeframe. (2)</vt:lpstr>
      <vt:lpstr>Where will the presentation go from here?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 Recommendations</vt:lpstr>
      <vt:lpstr>PowerPoint Presentation</vt:lpstr>
      <vt:lpstr>PowerPoint Presentation</vt:lpstr>
      <vt:lpstr>Technical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Ng</dc:creator>
  <cp:lastModifiedBy>Keith Ng</cp:lastModifiedBy>
  <cp:revision>159</cp:revision>
  <dcterms:created xsi:type="dcterms:W3CDTF">2026-10-03T03:49:59Z</dcterms:created>
  <dcterms:modified xsi:type="dcterms:W3CDTF">2026-10-04T08:39:54Z</dcterms:modified>
</cp:coreProperties>
</file>